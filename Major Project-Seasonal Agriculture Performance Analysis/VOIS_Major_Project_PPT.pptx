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48" r:id="rId12"/>
    <p:sldId id="341" r:id="rId13"/>
    <p:sldId id="342" r:id="rId14"/>
    <p:sldId id="344" r:id="rId15"/>
    <p:sldId id="345" r:id="rId16"/>
    <p:sldId id="346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3" d="100"/>
          <a:sy n="73" d="100"/>
        </p:scale>
        <p:origin x="534" y="7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jjwalgupta2021/VOIS-Data-Analytics/tree/main/Major%20Project-Seasonal%20Agriculture%20Performance%20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093" y="3967767"/>
            <a:ext cx="5145922" cy="1985975"/>
          </a:xfrm>
        </p:spPr>
        <p:txBody>
          <a:bodyPr>
            <a:noAutofit/>
          </a:bodyPr>
          <a:lstStyle/>
          <a:p>
            <a:r>
              <a:rPr lang="en-IN" sz="2400" dirty="0" smtClean="0">
                <a:solidFill>
                  <a:schemeClr val="tx1"/>
                </a:solidFill>
              </a:rPr>
              <a:t>NAME : UJJWAL GUPTA</a:t>
            </a:r>
          </a:p>
          <a:p>
            <a:r>
              <a:rPr lang="en-US" sz="2400" dirty="0">
                <a:solidFill>
                  <a:schemeClr val="tx1"/>
                </a:solidFill>
              </a:rPr>
              <a:t>AICTE STU ID : STU68374882bc9891748453506</a:t>
            </a:r>
          </a:p>
          <a:p>
            <a:r>
              <a:rPr lang="en-US" sz="2400" dirty="0">
                <a:solidFill>
                  <a:schemeClr val="tx1"/>
                </a:solidFill>
              </a:rPr>
              <a:t>AICTE </a:t>
            </a:r>
            <a:r>
              <a:rPr lang="en-US" sz="2400" dirty="0" smtClean="0">
                <a:solidFill>
                  <a:schemeClr val="tx1"/>
                </a:solidFill>
              </a:rPr>
              <a:t>INTERNSHIP </a:t>
            </a:r>
            <a:r>
              <a:rPr lang="en-US" sz="2400" dirty="0">
                <a:solidFill>
                  <a:schemeClr val="tx1"/>
                </a:solidFill>
              </a:rPr>
              <a:t>ID : </a:t>
            </a:r>
            <a:r>
              <a:rPr lang="en-US" sz="2400" dirty="0" smtClean="0">
                <a:solidFill>
                  <a:schemeClr val="tx1"/>
                </a:solidFill>
              </a:rPr>
              <a:t>INTERNSHIP_17830691666a4779eecfe8a</a:t>
            </a:r>
            <a:endParaRPr lang="en-IN" sz="2400" dirty="0" smtClean="0">
              <a:solidFill>
                <a:schemeClr val="tx1"/>
              </a:solidFill>
            </a:endParaRPr>
          </a:p>
          <a:p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098" y="441289"/>
            <a:ext cx="7013911" cy="2196578"/>
          </a:xfrm>
        </p:spPr>
        <p:txBody>
          <a:bodyPr>
            <a:noAutofit/>
          </a:bodyPr>
          <a:lstStyle/>
          <a:p>
            <a:r>
              <a:rPr lang="en-GB" sz="4300" b="1" dirty="0" smtClean="0"/>
              <a:t>PROJECT TITLE – </a:t>
            </a:r>
            <a:br>
              <a:rPr lang="en-GB" sz="4300" b="1" dirty="0" smtClean="0"/>
            </a:br>
            <a:r>
              <a:rPr lang="en-GB" sz="4300" b="1" dirty="0" smtClean="0"/>
              <a:t/>
            </a:r>
            <a:br>
              <a:rPr lang="en-GB" sz="4300" b="1" dirty="0" smtClean="0"/>
            </a:br>
            <a:r>
              <a:rPr lang="en-US" sz="4300" b="1" dirty="0" smtClean="0"/>
              <a:t>SEASONAL AGRICULTURE PERFORMANCE ANALYSIS</a:t>
            </a:r>
            <a:r>
              <a:rPr lang="en-US" sz="4300" b="1" dirty="0"/>
              <a:t/>
            </a:r>
            <a:br>
              <a:rPr lang="en-US" sz="4300" b="1" dirty="0"/>
            </a:br>
            <a:r>
              <a:rPr lang="en-US" sz="4300" b="1" dirty="0"/>
              <a:t/>
            </a:r>
            <a:br>
              <a:rPr lang="en-US" sz="4300" b="1" dirty="0"/>
            </a:br>
            <a:endParaRPr lang="en-IN" sz="43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995713"/>
            <a:ext cx="7893277" cy="4669247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Agricultural activities face </a:t>
            </a: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huge performance variations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due to seasonal changes in environment and markets</a:t>
            </a:r>
            <a:r>
              <a:rPr lang="en-US" altLang="en-US" sz="2400" dirty="0" smtClean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Seasonal Variations: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Conditions fluctuate dramatically across seasons</a:t>
            </a:r>
            <a:r>
              <a:rPr lang="en-US" altLang="en-US" sz="2400" dirty="0" smtClean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Google San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Performance Fluctuations: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Farm success differs between cycles</a:t>
            </a:r>
            <a:r>
              <a:rPr lang="en-US" altLang="en-US" sz="2400" dirty="0" smtClean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Google San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Data Limitations: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Raw numbers hide critical trends</a:t>
            </a:r>
            <a:r>
              <a:rPr lang="en-US" altLang="en-US" sz="2400" dirty="0" smtClean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Google San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Analytical Goal: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Uncover patterns using data analytics.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IN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819522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456" y="2698131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sz="2700" dirty="0" smtClean="0"/>
              <a:t/>
            </a:r>
            <a:br>
              <a:rPr lang="en-GB" sz="2700" dirty="0" smtClean="0"/>
            </a:br>
            <a:r>
              <a:rPr lang="en-GB" sz="2700" dirty="0" smtClean="0"/>
              <a:t/>
            </a:r>
            <a:br>
              <a:rPr lang="en-GB" sz="2700" dirty="0" smtClean="0"/>
            </a:br>
            <a:r>
              <a:rPr lang="en-GB" sz="2700" dirty="0" smtClean="0"/>
              <a:t/>
            </a:r>
            <a:br>
              <a:rPr lang="en-GB" sz="2700" dirty="0" smtClean="0"/>
            </a:br>
            <a:r>
              <a:rPr lang="en-GB" sz="2700" dirty="0" smtClean="0"/>
              <a:t/>
            </a:r>
            <a:br>
              <a:rPr lang="en-GB" sz="2700" dirty="0" smtClean="0"/>
            </a:br>
            <a:r>
              <a:rPr lang="en-GB" sz="2700" dirty="0" smtClean="0"/>
              <a:t/>
            </a:r>
            <a:br>
              <a:rPr lang="en-GB" sz="2700" dirty="0" smtClean="0"/>
            </a:br>
            <a:r>
              <a:rPr lang="en-GB" sz="2700" dirty="0" smtClean="0"/>
              <a:t/>
            </a:r>
            <a:br>
              <a:rPr lang="en-GB" sz="2700" dirty="0" smtClean="0"/>
            </a:br>
            <a:endParaRPr lang="en-IN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359" y="1964353"/>
            <a:ext cx="936244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smtClean="0"/>
              <a:t>Core Dataset</a:t>
            </a:r>
            <a:r>
              <a:rPr lang="en-US" altLang="en-US" sz="2400" b="1" dirty="0"/>
              <a:t>:</a:t>
            </a:r>
            <a:r>
              <a:rPr lang="en-US" altLang="en-US" sz="2400" dirty="0"/>
              <a:t> Farm-level records of </a:t>
            </a:r>
            <a:r>
              <a:rPr lang="en-US" altLang="en-US" sz="2400" b="1" dirty="0"/>
              <a:t>4,000 observations</a:t>
            </a:r>
            <a:r>
              <a:rPr lang="en-US" altLang="en-US" sz="2400" dirty="0"/>
              <a:t> across </a:t>
            </a:r>
            <a:r>
              <a:rPr lang="en-US" altLang="en-US" sz="2400" b="1" dirty="0"/>
              <a:t>28 distinct features</a:t>
            </a:r>
            <a:r>
              <a:rPr lang="en-US" altLang="en-US" sz="2400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smtClean="0"/>
              <a:t>Features </a:t>
            </a:r>
            <a:r>
              <a:rPr lang="en-US" altLang="en-US" sz="2400" b="1" dirty="0" err="1" smtClean="0"/>
              <a:t>Analysed</a:t>
            </a:r>
            <a:r>
              <a:rPr lang="en-US" altLang="en-US" sz="2400" b="1" dirty="0" smtClean="0"/>
              <a:t>:</a:t>
            </a:r>
            <a:endParaRPr lang="en-US" altLang="en-US" sz="2400" dirty="0" smtClean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smtClean="0"/>
              <a:t>Environmental</a:t>
            </a:r>
            <a:r>
              <a:rPr lang="en-US" altLang="en-US" sz="2400" b="1" dirty="0"/>
              <a:t>:</a:t>
            </a:r>
            <a:r>
              <a:rPr lang="en-US" altLang="en-US" sz="2400" dirty="0"/>
              <a:t> Rainfall, temperature, soil moisture, and </a:t>
            </a:r>
            <a:r>
              <a:rPr lang="en-US" altLang="en-US" sz="2400" dirty="0" err="1"/>
              <a:t>pH</a:t>
            </a:r>
            <a:r>
              <a:rPr lang="en-US" altLang="en-US" sz="2400" dirty="0" err="1" smtClean="0"/>
              <a:t>.</a:t>
            </a:r>
            <a:endParaRPr lang="en-US" altLang="en-US" sz="24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Operational:</a:t>
            </a:r>
            <a:r>
              <a:rPr lang="en-US" altLang="en-US" sz="2400" dirty="0"/>
              <a:t> Fertilizer/pesticide inputs, water usage, and seed quality</a:t>
            </a:r>
            <a:r>
              <a:rPr lang="en-US" altLang="en-US" sz="2400" dirty="0" smtClean="0"/>
              <a:t>.</a:t>
            </a:r>
            <a:endParaRPr lang="en-US" altLang="en-US" sz="24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Financial:</a:t>
            </a:r>
            <a:r>
              <a:rPr lang="en-US" altLang="en-US" sz="2400" dirty="0"/>
              <a:t> Crop yields, market price, total cost, revenue, and net profit</a:t>
            </a:r>
            <a:r>
              <a:rPr lang="en-US" altLang="en-US" sz="2400" dirty="0" smtClean="0"/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Analytical Focus:</a:t>
            </a:r>
            <a:r>
              <a:rPr lang="en-US" altLang="en-US" sz="2400" dirty="0"/>
              <a:t> Exploratory data analysis (EDA) and bivariate profiling to uncover hidden seasonal trends without using machine learning. 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152400" y="-505381"/>
            <a:ext cx="97784" cy="131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85660" rIns="0" bIns="2856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4300" dirty="0"/>
              <a:t>WHO ARE THE END USERS?</a:t>
            </a:r>
            <a:endParaRPr lang="en-IN" sz="4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20008" y="2081371"/>
            <a:ext cx="832804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Farmers &amp; Cooperatives:</a:t>
            </a:r>
            <a:r>
              <a:rPr lang="en-US" altLang="en-US" sz="2400" dirty="0">
                <a:solidFill>
                  <a:schemeClr val="tx1"/>
                </a:solidFill>
              </a:rPr>
              <a:t> Helping them make informed decisions on resource allocation based on seasonal trends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Agronomists &amp; Researchers:</a:t>
            </a:r>
            <a:r>
              <a:rPr lang="en-US" altLang="en-US" sz="2400" dirty="0">
                <a:solidFill>
                  <a:schemeClr val="tx1"/>
                </a:solidFill>
              </a:rPr>
              <a:t> Aiding their understanding of crop vulnerabilities to seasonal weather shifts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Agricultural Policymakers:</a:t>
            </a:r>
            <a:r>
              <a:rPr lang="en-US" altLang="en-US" sz="2400" dirty="0">
                <a:solidFill>
                  <a:schemeClr val="tx1"/>
                </a:solidFill>
              </a:rPr>
              <a:t> Providing data-backed insights for planning regional support, subsidies, and market interventions. </a:t>
            </a:r>
            <a:endParaRPr lang="en-US" altLang="en-US" sz="2400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778000" y="1443765"/>
            <a:ext cx="9338491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 smtClean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Google </a:t>
            </a:r>
            <a:r>
              <a:rPr lang="en-US" altLang="en-US" sz="2400" b="1" dirty="0" err="1">
                <a:solidFill>
                  <a:schemeClr val="tx1"/>
                </a:solidFill>
              </a:rPr>
              <a:t>Colab</a:t>
            </a:r>
            <a:r>
              <a:rPr lang="en-US" altLang="en-US" sz="2400" b="1" dirty="0">
                <a:solidFill>
                  <a:schemeClr val="tx1"/>
                </a:solidFill>
              </a:rPr>
              <a:t>:</a:t>
            </a:r>
            <a:r>
              <a:rPr lang="en-US" altLang="en-US" sz="2400" dirty="0">
                <a:solidFill>
                  <a:schemeClr val="tx1"/>
                </a:solidFill>
              </a:rPr>
              <a:t> Cloud-based </a:t>
            </a:r>
            <a:r>
              <a:rPr lang="en-US" altLang="en-US" sz="2400" dirty="0" err="1">
                <a:solidFill>
                  <a:schemeClr val="tx1"/>
                </a:solidFill>
              </a:rPr>
              <a:t>Jupyter</a:t>
            </a:r>
            <a:r>
              <a:rPr lang="en-US" altLang="en-US" sz="2400" dirty="0">
                <a:solidFill>
                  <a:schemeClr val="tx1"/>
                </a:solidFill>
              </a:rPr>
              <a:t> Notebook environment used for executing the entire data analytics workflow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 smtClean="0">
                <a:solidFill>
                  <a:schemeClr val="tx1"/>
                </a:solidFill>
              </a:rPr>
              <a:t>Python:</a:t>
            </a: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Primary programming language used for data manipulation, statistical analysis, and plotting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Pandas &amp; </a:t>
            </a:r>
            <a:r>
              <a:rPr lang="en-US" altLang="en-US" sz="2400" b="1" dirty="0" err="1">
                <a:solidFill>
                  <a:schemeClr val="tx1"/>
                </a:solidFill>
              </a:rPr>
              <a:t>NumPy</a:t>
            </a:r>
            <a:r>
              <a:rPr lang="en-US" altLang="en-US" sz="2400" b="1" dirty="0">
                <a:solidFill>
                  <a:schemeClr val="tx1"/>
                </a:solidFill>
              </a:rPr>
              <a:t>:</a:t>
            </a:r>
            <a:r>
              <a:rPr lang="en-US" altLang="en-US" sz="2400" dirty="0">
                <a:solidFill>
                  <a:schemeClr val="tx1"/>
                </a:solidFill>
              </a:rPr>
              <a:t> Core libraries applied for dataset cleaning, missing value imputation, and aggregating 4,000 farm records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</a:rPr>
              <a:t>Seaborn</a:t>
            </a:r>
            <a:r>
              <a:rPr lang="en-US" altLang="en-US" sz="2400" b="1" dirty="0">
                <a:solidFill>
                  <a:schemeClr val="tx1"/>
                </a:solidFill>
              </a:rPr>
              <a:t> &amp; </a:t>
            </a:r>
            <a:r>
              <a:rPr lang="en-US" altLang="en-US" sz="2400" b="1" dirty="0" err="1">
                <a:solidFill>
                  <a:schemeClr val="tx1"/>
                </a:solidFill>
              </a:rPr>
              <a:t>Matplotlib</a:t>
            </a:r>
            <a:r>
              <a:rPr lang="en-US" altLang="en-US" sz="2400" b="1" dirty="0">
                <a:solidFill>
                  <a:schemeClr val="tx1"/>
                </a:solidFill>
              </a:rPr>
              <a:t>:</a:t>
            </a:r>
            <a:r>
              <a:rPr lang="en-US" altLang="en-US" sz="2400" dirty="0">
                <a:solidFill>
                  <a:schemeClr val="tx1"/>
                </a:solidFill>
              </a:rPr>
              <a:t> Visualization tools used to design clean statistical charts like seasonal box plots, </a:t>
            </a:r>
            <a:r>
              <a:rPr lang="en-US" altLang="en-US" sz="2400" dirty="0" err="1">
                <a:solidFill>
                  <a:schemeClr val="tx1"/>
                </a:solidFill>
              </a:rPr>
              <a:t>heatmaps</a:t>
            </a:r>
            <a:r>
              <a:rPr lang="en-US" altLang="en-US" sz="2400" dirty="0">
                <a:solidFill>
                  <a:schemeClr val="tx1"/>
                </a:solidFill>
              </a:rPr>
              <a:t>, and counts.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444374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941449"/>
            <a:ext cx="9382443" cy="4738135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latin typeface="Google Sans"/>
              </a:rPr>
              <a:t>Kharif</a:t>
            </a: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 Season Highs: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Records the highest financial returns with an average gross revenue of </a:t>
            </a: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₹710,719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and a net profit of </a:t>
            </a: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₹178,914</a:t>
            </a:r>
            <a:r>
              <a:rPr lang="en-US" altLang="en-US" sz="2400" dirty="0" smtClean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Google San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Rabi Season Stability: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Represents a stable, reliable farming cycle characterized by a moderate average net profit of </a:t>
            </a: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₹87,689</a:t>
            </a:r>
            <a:r>
              <a:rPr lang="en-US" altLang="en-US" sz="2400" dirty="0" smtClean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Google San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Zaid Season Deficit: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Experiences severe operational and financial strain, resulting in an average net loss of </a:t>
            </a: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₹24,804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per farm</a:t>
            </a:r>
            <a:r>
              <a:rPr lang="en-US" altLang="en-US" sz="2400" dirty="0" smtClean="0">
                <a:solidFill>
                  <a:schemeClr val="tx1"/>
                </a:solidFill>
                <a:latin typeface="Google Sans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Google San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Google Sans"/>
              </a:rPr>
              <a:t>Profitability Drivers: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 Bivariate analysis proves net profit is limited more by high seed costs and market price shifts than fertilizer inputs.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444374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871346"/>
            <a:ext cx="9016683" cy="5252667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Zaid Resource Stress:</a:t>
            </a:r>
            <a:r>
              <a:rPr lang="en-US" altLang="en-US" sz="2400" dirty="0">
                <a:solidFill>
                  <a:schemeClr val="tx1"/>
                </a:solidFill>
              </a:rPr>
              <a:t> Suffers from severe water inefficiency, requiring a massive average irrigation volume of </a:t>
            </a:r>
            <a:r>
              <a:rPr lang="en-US" altLang="en-US" sz="2400" b="1" dirty="0">
                <a:solidFill>
                  <a:schemeClr val="tx1"/>
                </a:solidFill>
              </a:rPr>
              <a:t>6,419.89 m³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</a:rPr>
              <a:t>Kharif</a:t>
            </a:r>
            <a:r>
              <a:rPr lang="en-US" altLang="en-US" sz="2400" b="1" dirty="0">
                <a:solidFill>
                  <a:schemeClr val="tx1"/>
                </a:solidFill>
              </a:rPr>
              <a:t> Disease Exposure:</a:t>
            </a:r>
            <a:r>
              <a:rPr lang="en-US" altLang="en-US" sz="2400" dirty="0">
                <a:solidFill>
                  <a:schemeClr val="tx1"/>
                </a:solidFill>
              </a:rPr>
              <a:t> Faces the highest environmental vulnerability with pest and disease risk thresholds spiking to </a:t>
            </a:r>
            <a:r>
              <a:rPr lang="en-US" altLang="en-US" sz="2400" b="1" dirty="0">
                <a:solidFill>
                  <a:schemeClr val="tx1"/>
                </a:solidFill>
              </a:rPr>
              <a:t>54.47</a:t>
            </a:r>
            <a:r>
              <a:rPr lang="en-US" altLang="en-US" sz="2400" b="1" dirty="0" smtClean="0">
                <a:solidFill>
                  <a:schemeClr val="tx1"/>
                </a:solidFill>
              </a:rPr>
              <a:t>%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Soil Health Balance:</a:t>
            </a:r>
            <a:r>
              <a:rPr lang="en-US" altLang="en-US" sz="2400" dirty="0">
                <a:solidFill>
                  <a:schemeClr val="tx1"/>
                </a:solidFill>
              </a:rPr>
              <a:t> Excess chemical fertilizer use fails to boost crop yields and actively degrades baseline soil pH levels</a:t>
            </a:r>
            <a:r>
              <a:rPr lang="en-US" altLang="en-US" sz="24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Environmental Limits:</a:t>
            </a:r>
            <a:r>
              <a:rPr lang="en-US" altLang="en-US" sz="2400" dirty="0">
                <a:solidFill>
                  <a:schemeClr val="tx1"/>
                </a:solidFill>
              </a:rPr>
              <a:t> High summer temperatures during Zaid (averaging </a:t>
            </a:r>
            <a:r>
              <a:rPr lang="en-US" altLang="en-US" sz="2400" b="1" dirty="0">
                <a:solidFill>
                  <a:schemeClr val="tx1"/>
                </a:solidFill>
              </a:rPr>
              <a:t>31.04°C</a:t>
            </a:r>
            <a:r>
              <a:rPr lang="en-US" altLang="en-US" sz="2400" dirty="0">
                <a:solidFill>
                  <a:schemeClr val="tx1"/>
                </a:solidFill>
              </a:rPr>
              <a:t>) directly drive down soil moisture to a low </a:t>
            </a:r>
            <a:r>
              <a:rPr lang="en-US" altLang="en-US" sz="2400" b="1" dirty="0">
                <a:solidFill>
                  <a:schemeClr val="tx1"/>
                </a:solidFill>
              </a:rPr>
              <a:t>19.28%</a:t>
            </a:r>
            <a:r>
              <a:rPr lang="en-US" altLang="en-US" sz="24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38499"/>
            <a:ext cx="8015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66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444374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7" y="1756465"/>
            <a:ext cx="3916611" cy="40493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008" y="2172158"/>
            <a:ext cx="6777031" cy="340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2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444374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7" y="1275371"/>
            <a:ext cx="5424397" cy="31997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354" y="3228722"/>
            <a:ext cx="5520337" cy="324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0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444374"/>
            <a:ext cx="2981643" cy="830997"/>
          </a:xfrm>
        </p:spPr>
        <p:txBody>
          <a:bodyPr>
            <a:normAutofit/>
          </a:bodyPr>
          <a:lstStyle/>
          <a:p>
            <a:r>
              <a:rPr lang="en-GB" sz="43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448" y="3561080"/>
            <a:ext cx="5906543" cy="29108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7" y="1275371"/>
            <a:ext cx="5073491" cy="252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4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444374"/>
            <a:ext cx="4849632" cy="830997"/>
          </a:xfrm>
        </p:spPr>
        <p:txBody>
          <a:bodyPr>
            <a:noAutofit/>
          </a:bodyPr>
          <a:lstStyle/>
          <a:p>
            <a:r>
              <a:rPr lang="en-GB" sz="4300" dirty="0" smtClean="0"/>
              <a:t>FUTURE SCOPE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675957" y="1595021"/>
            <a:ext cx="875542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Predictive Yield Modeling:</a:t>
            </a:r>
            <a:r>
              <a:rPr lang="en-US" altLang="en-US" sz="2400" dirty="0"/>
              <a:t> Apply machine learning </a:t>
            </a:r>
            <a:r>
              <a:rPr lang="en-US" altLang="en-US" sz="2400" dirty="0" err="1"/>
              <a:t>regressors</a:t>
            </a:r>
            <a:r>
              <a:rPr lang="en-US" altLang="en-US" sz="2400" dirty="0"/>
              <a:t> to forecast future crop yields based on environmental factors.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Interactive Analytics Dashboard:</a:t>
            </a:r>
            <a:r>
              <a:rPr lang="en-US" altLang="en-US" sz="2400" dirty="0"/>
              <a:t> Develop a web-based </a:t>
            </a:r>
            <a:r>
              <a:rPr lang="en-US" altLang="en-US" sz="2400" dirty="0" err="1"/>
              <a:t>Streamlit</a:t>
            </a:r>
            <a:r>
              <a:rPr lang="en-US" altLang="en-US" sz="2400" dirty="0"/>
              <a:t> application to display real-time seasonal insights and farm trends.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Resource Optimization Engine:</a:t>
            </a:r>
            <a:r>
              <a:rPr lang="en-US" altLang="en-US" sz="2400" dirty="0"/>
              <a:t> Design an automated system to provide targeted fertilizer and irrigation recommendations using soil data.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/>
              <a:t>Early Disease Warning System:</a:t>
            </a:r>
            <a:r>
              <a:rPr lang="en-US" altLang="en-US" sz="2400" dirty="0"/>
              <a:t> Create anomaly detection triggers to flag high pest and disease risk periods automatically.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4908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444374"/>
            <a:ext cx="3817666" cy="830997"/>
          </a:xfrm>
        </p:spPr>
        <p:txBody>
          <a:bodyPr>
            <a:normAutofit/>
          </a:bodyPr>
          <a:lstStyle/>
          <a:p>
            <a:r>
              <a:rPr lang="en-GB" sz="4300" dirty="0" smtClean="0"/>
              <a:t>GITHUB LINK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675957" y="5640923"/>
            <a:ext cx="3843754" cy="8309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300" dirty="0"/>
              <a:t> </a:t>
            </a:r>
            <a:r>
              <a:rPr lang="en-GB" sz="4300" b="0" u="sng" dirty="0" smtClean="0">
                <a:solidFill>
                  <a:srgbClr val="0070C0"/>
                </a:solidFill>
                <a:hlinkClick r:id="rId3"/>
              </a:rPr>
              <a:t>Click Here</a:t>
            </a:r>
            <a:endParaRPr lang="en-IN" sz="4300" b="0" u="sng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5957" y="2014921"/>
            <a:ext cx="73689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https://github.com/ujjwalgupta2021/VOIS-Data-Analytics/tree/main/Major%20Project-Seasonal%20Agriculture%20Performance%20Analysis</a:t>
            </a:r>
          </a:p>
        </p:txBody>
      </p:sp>
    </p:spTree>
    <p:extLst>
      <p:ext uri="{BB962C8B-B14F-4D97-AF65-F5344CB8AC3E}">
        <p14:creationId xmlns:p14="http://schemas.microsoft.com/office/powerpoint/2010/main" val="118060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30866"/>
            <a:ext cx="10691007" cy="830997"/>
          </a:xfrm>
        </p:spPr>
        <p:txBody>
          <a:bodyPr>
            <a:noAutofit/>
          </a:bodyPr>
          <a:lstStyle/>
          <a:p>
            <a:r>
              <a:rPr lang="en-IN" sz="4300" dirty="0" smtClean="0"/>
              <a:t>VOIS COURSE COMPLETION CERTIFICATE - </a:t>
            </a:r>
            <a:br>
              <a:rPr lang="en-IN" sz="4300" dirty="0" smtClean="0"/>
            </a:br>
            <a:r>
              <a:rPr lang="en-IN" sz="4300" dirty="0" smtClean="0"/>
              <a:t>COURSE NAME- DATA VISUALIZATION </a:t>
            </a:r>
            <a:endParaRPr lang="en-IN" sz="43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593" y="1610195"/>
            <a:ext cx="7161783" cy="505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6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37" y="1220695"/>
            <a:ext cx="8782873" cy="342123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9600" b="1" dirty="0" smtClean="0">
                <a:solidFill>
                  <a:schemeClr val="tx1"/>
                </a:solidFill>
              </a:rPr>
              <a:t>THANK YOU</a:t>
            </a:r>
            <a:endParaRPr lang="en-US" sz="96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71af3243-3dd4-4a8d-8c0d-dd76da1f02a5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813</TotalTime>
  <Words>558</Words>
  <Application>Microsoft Office PowerPoint</Application>
  <PresentationFormat>Widescreen</PresentationFormat>
  <Paragraphs>73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Google Sans</vt:lpstr>
      <vt:lpstr>Trebuchet MS</vt:lpstr>
      <vt:lpstr>Wingdings</vt:lpstr>
      <vt:lpstr>Wingdings 3</vt:lpstr>
      <vt:lpstr>Facet</vt:lpstr>
      <vt:lpstr>PROJECT TITLE –   SEASONAL AGRICULTURE PERFORMANCE ANALYSIS  </vt:lpstr>
      <vt:lpstr>PROBLEM  STATEMENT</vt:lpstr>
      <vt:lpstr>PROJECT DESCRIPTION      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Dell</cp:lastModifiedBy>
  <cp:revision>110</cp:revision>
  <dcterms:created xsi:type="dcterms:W3CDTF">2021-07-11T13:13:15Z</dcterms:created>
  <dcterms:modified xsi:type="dcterms:W3CDTF">2026-09-05T16:00:48Z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