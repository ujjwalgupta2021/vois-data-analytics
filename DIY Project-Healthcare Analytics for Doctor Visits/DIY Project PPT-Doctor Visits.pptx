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gupta2021/VOIS-Data-Analytics/tree/main/DIY%20Project-Healthcare%20Analytics%20for%20Doctor%20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gupta2021/VOIS-Data-Analytics/tree/main/DIY%20Project-Healthcare%20Analytics%20for%20Doctor%20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github.com/ujjwalgupta2021/VOIS-Data-Analytics/tree/main/DIY%20Project-Healthcare%20Analytics%20for%20Doctor%20Visit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gupta2021/VOIS-Data-Analytics/tree/main/DIY%20Project-Healthcare%20Analytics%20for%20Doctor%20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096" y="4272154"/>
            <a:ext cx="5145922" cy="1371243"/>
          </a:xfrm>
        </p:spPr>
        <p:txBody>
          <a:bodyPr/>
          <a:lstStyle/>
          <a:p>
            <a:r>
              <a:rPr lang="en-IN" sz="2400" dirty="0" smtClean="0">
                <a:solidFill>
                  <a:schemeClr val="tx1"/>
                </a:solidFill>
              </a:rPr>
              <a:t>NAME : UJJWAL GUPTA</a:t>
            </a:r>
          </a:p>
          <a:p>
            <a:r>
              <a:rPr lang="en-US" sz="2400" dirty="0">
                <a:solidFill>
                  <a:schemeClr val="tx1"/>
                </a:solidFill>
              </a:rPr>
              <a:t>AICTE STU ID : STU68374882bc9891748453506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102" y="806102"/>
            <a:ext cx="7013911" cy="2196578"/>
          </a:xfrm>
        </p:spPr>
        <p:txBody>
          <a:bodyPr>
            <a:noAutofit/>
          </a:bodyPr>
          <a:lstStyle/>
          <a:p>
            <a:r>
              <a:rPr lang="en-GB" sz="4300" b="1" dirty="0" smtClean="0"/>
              <a:t>PROJECT TITLE – </a:t>
            </a:r>
            <a:br>
              <a:rPr lang="en-GB" sz="4300" b="1" dirty="0" smtClean="0"/>
            </a:br>
            <a:r>
              <a:rPr lang="en-GB" sz="4300" b="1" dirty="0" smtClean="0"/>
              <a:t/>
            </a:r>
            <a:br>
              <a:rPr lang="en-GB" sz="4300" b="1" dirty="0" smtClean="0"/>
            </a:br>
            <a:r>
              <a:rPr lang="en-US" sz="4300" b="1" dirty="0" smtClean="0"/>
              <a:t>HEALTHCARE ANALYTICS FOR DOCTOR VISITS</a:t>
            </a:r>
            <a:r>
              <a:rPr lang="en-US" sz="4300" dirty="0"/>
              <a:t/>
            </a:r>
            <a:br>
              <a:rPr lang="en-US" sz="4300" dirty="0"/>
            </a:br>
            <a:r>
              <a:rPr lang="en-US" sz="4300" dirty="0"/>
              <a:t/>
            </a:r>
            <a:br>
              <a:rPr lang="en-US" sz="4300" dirty="0"/>
            </a:br>
            <a:endParaRPr lang="en-IN" sz="43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995713"/>
            <a:ext cx="6718240" cy="466924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Staffing Issues:</a:t>
            </a:r>
            <a:r>
              <a:rPr lang="en-US" altLang="en-US" sz="2400" dirty="0">
                <a:solidFill>
                  <a:schemeClr val="tx1"/>
                </a:solidFill>
              </a:rPr>
              <a:t> Hospitals struggle to predict how many patients will visit, causing long waiting lines and staff stress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Different Patient Needs:</a:t>
            </a:r>
            <a:r>
              <a:rPr lang="en-US" altLang="en-US" sz="2400" dirty="0">
                <a:solidFill>
                  <a:schemeClr val="tx1"/>
                </a:solidFill>
              </a:rPr>
              <a:t> People of different ages, genders, and incomes use healthcare in completely different ways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Insurance Gaps:</a:t>
            </a:r>
            <a:r>
              <a:rPr lang="en-US" altLang="en-US" sz="2400" dirty="0">
                <a:solidFill>
                  <a:schemeClr val="tx1"/>
                </a:solidFill>
              </a:rPr>
              <a:t> It is unclear how government medical aid for low-income and older patients affects clinic visits compared to private insurance.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19522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/>
              <a:t/>
            </a:r>
            <a:br>
              <a:rPr lang="en-GB" sz="2700" dirty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/>
              <a:t/>
            </a:r>
            <a:br>
              <a:rPr lang="en-GB" sz="2700" dirty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/>
              <a:t/>
            </a:r>
            <a:br>
              <a:rPr lang="en-GB" sz="2700" dirty="0"/>
            </a:br>
            <a:endParaRPr lang="en-IN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0399" y="2036814"/>
            <a:ext cx="8326847" cy="422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Smart Data Ingestion:</a:t>
            </a:r>
            <a:r>
              <a:rPr lang="en-US" altLang="en-US" sz="2400" dirty="0"/>
              <a:t> Analyzed a clean, real-world database of 5,190 patient records with no missing information</a:t>
            </a:r>
            <a:r>
              <a:rPr lang="en-US" altLang="en-US" sz="24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Tracking Key Factors:</a:t>
            </a:r>
            <a:r>
              <a:rPr lang="en-US" altLang="en-US" sz="2400" dirty="0"/>
              <a:t> Studied how things like gender, income, and how sick a patient feels change how often they visit the doctor</a:t>
            </a:r>
            <a:r>
              <a:rPr lang="en-US" altLang="en-US" sz="24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Better Health Logistics:</a:t>
            </a:r>
            <a:r>
              <a:rPr lang="en-US" altLang="en-US" sz="2400" dirty="0"/>
              <a:t> Uses data patterns to help hospital managers know exactly when they need more doctors or medicine on hand. 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52400" y="-505381"/>
            <a:ext cx="97784" cy="131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20008" y="1618377"/>
            <a:ext cx="9111821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Hospital Managers:</a:t>
            </a:r>
            <a:r>
              <a:rPr lang="en-US" altLang="en-US" sz="2400" dirty="0">
                <a:solidFill>
                  <a:schemeClr val="tx1"/>
                </a:solidFill>
              </a:rPr>
              <a:t> They use the data to schedule the right number of doctors and stop long checkout queues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Health Policy Makers:</a:t>
            </a:r>
            <a:r>
              <a:rPr lang="en-US" altLang="en-US" sz="2400" dirty="0">
                <a:solidFill>
                  <a:schemeClr val="tx1"/>
                </a:solidFill>
              </a:rPr>
              <a:t> They can check if government free medical benefits are helping low-income and older citizens effectively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Medical Researchers:</a:t>
            </a:r>
            <a:r>
              <a:rPr lang="en-US" altLang="en-US" sz="2400" dirty="0">
                <a:solidFill>
                  <a:schemeClr val="tx1"/>
                </a:solidFill>
              </a:rPr>
              <a:t> They study how an individual's background and temporary illnesses affect actual clinical visits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Medicine Suppliers:</a:t>
            </a:r>
            <a:r>
              <a:rPr lang="en-US" altLang="en-US" sz="2400" dirty="0">
                <a:solidFill>
                  <a:schemeClr val="tx1"/>
                </a:solidFill>
              </a:rPr>
              <a:t> They use these patterns to send vaccines and medicines to the clinics that need them most.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23" y="564459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777999" y="1472080"/>
            <a:ext cx="902498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smtClean="0">
                <a:solidFill>
                  <a:schemeClr val="tx1"/>
                </a:solidFill>
              </a:rPr>
              <a:t>Python:</a:t>
            </a:r>
            <a:r>
              <a:rPr lang="en-US" altLang="en-US" sz="2400" dirty="0" smtClean="0">
                <a:solidFill>
                  <a:schemeClr val="tx1"/>
                </a:solidFill>
              </a:rPr>
              <a:t> The core programming language used to load and calculate all statistical metrics.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smtClean="0">
                <a:solidFill>
                  <a:schemeClr val="tx1"/>
                </a:solidFill>
              </a:rPr>
              <a:t>Pandas: </a:t>
            </a:r>
            <a:r>
              <a:rPr lang="en-US" altLang="en-US" sz="2400" dirty="0" smtClean="0">
                <a:solidFill>
                  <a:schemeClr val="tx1"/>
                </a:solidFill>
              </a:rPr>
              <a:t>Used to clean the dataset, handle empty fields, and sort rows and columns.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err="1">
                <a:solidFill>
                  <a:schemeClr val="tx1"/>
                </a:solidFill>
              </a:rPr>
              <a:t>NumPy</a:t>
            </a:r>
            <a:r>
              <a:rPr lang="en-US" sz="2400" b="1" dirty="0">
                <a:solidFill>
                  <a:schemeClr val="tx1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Used to perform fast mathematical calculations and process data arrays efficiently.</a:t>
            </a: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err="1" smtClean="0">
                <a:solidFill>
                  <a:schemeClr val="tx1"/>
                </a:solidFill>
              </a:rPr>
              <a:t>Matplotlib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 &amp; </a:t>
            </a:r>
            <a:r>
              <a:rPr lang="en-US" altLang="en-US" sz="2400" b="1" dirty="0" err="1" smtClean="0">
                <a:solidFill>
                  <a:schemeClr val="tx1"/>
                </a:solidFill>
              </a:rPr>
              <a:t>Seaborn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: </a:t>
            </a:r>
            <a:r>
              <a:rPr lang="en-US" altLang="en-US" sz="2400" dirty="0" smtClean="0">
                <a:solidFill>
                  <a:schemeClr val="tx1"/>
                </a:solidFill>
              </a:rPr>
              <a:t>Used to build simple graphs, chart layouts, and color-coded comparison tables.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smtClean="0">
                <a:solidFill>
                  <a:schemeClr val="tx1"/>
                </a:solidFill>
              </a:rPr>
              <a:t>Google </a:t>
            </a:r>
            <a:r>
              <a:rPr lang="en-US" altLang="en-US" sz="2400" b="1" dirty="0" err="1" smtClean="0">
                <a:solidFill>
                  <a:schemeClr val="tx1"/>
                </a:solidFill>
              </a:rPr>
              <a:t>Colab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: </a:t>
            </a:r>
            <a:r>
              <a:rPr lang="en-US" altLang="en-US" sz="2400" dirty="0" smtClean="0">
                <a:solidFill>
                  <a:schemeClr val="tx1"/>
                </a:solidFill>
              </a:rPr>
              <a:t>The online notebook environment where all the data code was written and run. 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smtClean="0">
                <a:solidFill>
                  <a:srgbClr val="0070C0"/>
                </a:solidFill>
                <a:hlinkClick r:id="rId3"/>
              </a:rPr>
              <a:t>Github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973146"/>
            <a:ext cx="9147312" cy="5402254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Top Driver:</a:t>
            </a:r>
            <a:r>
              <a:rPr lang="en-US" altLang="en-US" sz="2400" dirty="0">
                <a:solidFill>
                  <a:schemeClr val="tx1"/>
                </a:solidFill>
              </a:rPr>
              <a:t> Immediate sickness and restricted activity days are the main reasons people visit the doctor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Income Factor:</a:t>
            </a:r>
            <a:r>
              <a:rPr lang="en-US" altLang="en-US" sz="2400" dirty="0">
                <a:solidFill>
                  <a:schemeClr val="tx1"/>
                </a:solidFill>
              </a:rPr>
              <a:t> Lower-income individuals visit doctors much more frequently than higher-income groups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Activity Impact:</a:t>
            </a:r>
            <a:r>
              <a:rPr lang="en-US" altLang="en-US" sz="2400" dirty="0">
                <a:solidFill>
                  <a:schemeClr val="tx1"/>
                </a:solidFill>
              </a:rPr>
              <a:t> Patients with 14 days of </a:t>
            </a:r>
            <a:r>
              <a:rPr lang="en-US" altLang="en-US" sz="2400" dirty="0" smtClean="0">
                <a:solidFill>
                  <a:schemeClr val="tx1"/>
                </a:solidFill>
              </a:rPr>
              <a:t>restricted </a:t>
            </a:r>
            <a:r>
              <a:rPr lang="en-US" altLang="en-US" sz="2400" dirty="0">
                <a:solidFill>
                  <a:schemeClr val="tx1"/>
                </a:solidFill>
              </a:rPr>
              <a:t>activity go to the doctor </a:t>
            </a:r>
            <a:r>
              <a:rPr lang="en-US" altLang="en-US" sz="2400" b="1" dirty="0">
                <a:solidFill>
                  <a:schemeClr val="tx1"/>
                </a:solidFill>
              </a:rPr>
              <a:t>10 times more often</a:t>
            </a:r>
            <a:r>
              <a:rPr lang="en-US" altLang="en-US" sz="2400" dirty="0">
                <a:solidFill>
                  <a:schemeClr val="tx1"/>
                </a:solidFill>
              </a:rPr>
              <a:t> than those with 0 days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Demographics:</a:t>
            </a:r>
            <a:r>
              <a:rPr lang="en-US" altLang="en-US" sz="2400" dirty="0">
                <a:solidFill>
                  <a:schemeClr val="tx1"/>
                </a:solidFill>
              </a:rPr>
              <a:t> The data skews slightly female (</a:t>
            </a:r>
            <a:r>
              <a:rPr lang="en-US" altLang="en-US" sz="2400" b="1" dirty="0">
                <a:solidFill>
                  <a:schemeClr val="tx1"/>
                </a:solidFill>
              </a:rPr>
              <a:t>52%</a:t>
            </a:r>
            <a:r>
              <a:rPr lang="en-US" altLang="en-US" sz="2400" dirty="0">
                <a:solidFill>
                  <a:schemeClr val="tx1"/>
                </a:solidFill>
              </a:rPr>
              <a:t>), with high </a:t>
            </a:r>
            <a:r>
              <a:rPr lang="en-US" altLang="en-US" sz="2400" dirty="0" smtClean="0">
                <a:solidFill>
                  <a:schemeClr val="tx1"/>
                </a:solidFill>
              </a:rPr>
              <a:t>reliance </a:t>
            </a:r>
            <a:r>
              <a:rPr lang="en-US" altLang="en-US" sz="2400" dirty="0">
                <a:solidFill>
                  <a:schemeClr val="tx1"/>
                </a:solidFill>
              </a:rPr>
              <a:t>on public health aid programs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smtClean="0">
                <a:solidFill>
                  <a:srgbClr val="0070C0"/>
                </a:solidFill>
                <a:hlinkClick r:id="rId3"/>
              </a:rPr>
              <a:t>Github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87" y="1608410"/>
            <a:ext cx="5379555" cy="37948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26" y="1608410"/>
            <a:ext cx="5191311" cy="379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360" y="1125375"/>
            <a:ext cx="5658640" cy="3267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smtClean="0">
                <a:solidFill>
                  <a:srgbClr val="0070C0"/>
                </a:solidFill>
                <a:hlinkClick r:id="rId4"/>
              </a:rPr>
              <a:t>Github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35" y="1201586"/>
            <a:ext cx="4134427" cy="31151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62" y="3188710"/>
            <a:ext cx="3400900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smtClean="0">
                <a:solidFill>
                  <a:srgbClr val="0070C0"/>
                </a:solidFill>
                <a:hlinkClick r:id="rId3"/>
              </a:rPr>
              <a:t>Github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1201586"/>
            <a:ext cx="4995601" cy="38607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766" y="2711533"/>
            <a:ext cx="6049219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37" y="1220695"/>
            <a:ext cx="8782873" cy="342123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9600" b="1" dirty="0" smtClean="0">
                <a:solidFill>
                  <a:schemeClr val="tx1"/>
                </a:solidFill>
              </a:rPr>
              <a:t>THANK YOU</a:t>
            </a:r>
            <a:endParaRPr lang="en-US" sz="96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71af3243-3dd4-4a8d-8c0d-dd76da1f02a5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794</TotalTime>
  <Words>412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Google Sans</vt:lpstr>
      <vt:lpstr>Trebuchet MS</vt:lpstr>
      <vt:lpstr>Wingdings</vt:lpstr>
      <vt:lpstr>Wingdings 3</vt:lpstr>
      <vt:lpstr>Facet</vt:lpstr>
      <vt:lpstr>PROJECT TITLE –   HEALTHCARE ANALYTICS FOR DOCTOR VISITS  </vt:lpstr>
      <vt:lpstr>PROBLEM  STATEMENT</vt:lpstr>
      <vt:lpstr>PROJECT DESCRIPTION        </vt:lpstr>
      <vt:lpstr>WHO ARE THE END USERS?</vt:lpstr>
      <vt:lpstr>TECHNOLOGY USED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Dell</cp:lastModifiedBy>
  <cp:revision>110</cp:revision>
  <dcterms:created xsi:type="dcterms:W3CDTF">2021-07-11T13:13:15Z</dcterms:created>
  <dcterms:modified xsi:type="dcterms:W3CDTF">2026-09-19T10:12:51Z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