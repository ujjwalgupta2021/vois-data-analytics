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5"/>
  </p:notesMasterIdLst>
  <p:handoutMasterIdLst>
    <p:handoutMasterId r:id="rId16"/>
  </p:handoutMasterIdLst>
  <p:sldIdLst>
    <p:sldId id="338" r:id="rId5"/>
    <p:sldId id="327" r:id="rId6"/>
    <p:sldId id="315" r:id="rId7"/>
    <p:sldId id="329" r:id="rId8"/>
    <p:sldId id="302" r:id="rId9"/>
    <p:sldId id="339" r:id="rId10"/>
    <p:sldId id="340" r:id="rId11"/>
    <p:sldId id="341" r:id="rId12"/>
    <p:sldId id="342" r:id="rId13"/>
    <p:sldId id="30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3" d="100"/>
          <a:sy n="73" d="100"/>
        </p:scale>
        <p:origin x="534" y="7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ujjwalgupta2021/VOIS-Data-Analytics/tree/main/DIY%20Project-Car%20Market%20Trends%20Analysis%20with%20Car%20Dekho%20Data"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ujjwalgupta2021/VOIS-Data-Analytics/tree/main/DIY%20Project-Car%20Market%20Trends%20Analysis%20with%20Car%20Dekho%20Data" TargetMode="External"/><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ujjwalgupta2021/VOIS-Data-Analytics/tree/main/DIY%20Project-Car%20Market%20Trends%20Analysis%20with%20Car%20Dekho%20Data"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ujjwalgupta2021/VOIS-Data-Analytics/tree/main/DIY%20Project-Car%20Market%20Trends%20Analysis%20with%20Car%20Dekho%20Data"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248096" y="3997591"/>
            <a:ext cx="5145922" cy="1985975"/>
          </a:xfrm>
        </p:spPr>
        <p:txBody>
          <a:bodyPr/>
          <a:lstStyle/>
          <a:p>
            <a:r>
              <a:rPr lang="en-IN" dirty="0" smtClean="0">
                <a:solidFill>
                  <a:schemeClr val="tx1"/>
                </a:solidFill>
              </a:rPr>
              <a:t>NAME : UJJWAL GUPTA</a:t>
            </a:r>
          </a:p>
          <a:p>
            <a:r>
              <a:rPr lang="en-US" dirty="0">
                <a:solidFill>
                  <a:schemeClr val="tx1"/>
                </a:solidFill>
              </a:rPr>
              <a:t>AICTE STU ID : STU68374882bc9891748453506</a:t>
            </a:r>
          </a:p>
          <a:p>
            <a:r>
              <a:rPr lang="en-US" dirty="0">
                <a:solidFill>
                  <a:schemeClr val="tx1"/>
                </a:solidFill>
              </a:rPr>
              <a:t>AICTE </a:t>
            </a:r>
            <a:r>
              <a:rPr lang="en-US" dirty="0" smtClean="0">
                <a:solidFill>
                  <a:schemeClr val="tx1"/>
                </a:solidFill>
              </a:rPr>
              <a:t>INTERNSHIP </a:t>
            </a:r>
            <a:r>
              <a:rPr lang="en-US" dirty="0">
                <a:solidFill>
                  <a:schemeClr val="tx1"/>
                </a:solidFill>
              </a:rPr>
              <a:t>ID : </a:t>
            </a:r>
            <a:r>
              <a:rPr lang="en-US" dirty="0" smtClean="0">
                <a:solidFill>
                  <a:schemeClr val="tx1"/>
                </a:solidFill>
              </a:rPr>
              <a:t>INTERNSHIP_17830691666a4779eecfe8a</a:t>
            </a:r>
            <a:endParaRPr lang="en-IN" dirty="0" smtClean="0">
              <a:solidFill>
                <a:schemeClr val="tx1"/>
              </a:solidFill>
            </a:endParaRPr>
          </a:p>
          <a:p>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314102" y="806102"/>
            <a:ext cx="7013911" cy="2196578"/>
          </a:xfrm>
        </p:spPr>
        <p:txBody>
          <a:bodyPr>
            <a:normAutofit fontScale="90000"/>
          </a:bodyPr>
          <a:lstStyle/>
          <a:p>
            <a:r>
              <a:rPr lang="en-GB" sz="4000" b="1" dirty="0" smtClean="0"/>
              <a:t>PROJECT TITLE – </a:t>
            </a:r>
            <a:br>
              <a:rPr lang="en-GB" sz="4000" b="1" dirty="0" smtClean="0"/>
            </a:br>
            <a:r>
              <a:rPr lang="en-GB" sz="4000" b="1" dirty="0" smtClean="0"/>
              <a:t/>
            </a:r>
            <a:br>
              <a:rPr lang="en-GB" sz="4000" b="1" dirty="0" smtClean="0"/>
            </a:br>
            <a:r>
              <a:rPr lang="en-US" sz="4000" b="1" dirty="0" smtClean="0"/>
              <a:t>CAR MARKET TRENDS ANALYSIS</a:t>
            </a:r>
            <a:br>
              <a:rPr lang="en-US" sz="4000" b="1" dirty="0" smtClean="0"/>
            </a:br>
            <a:r>
              <a:rPr lang="en-US" sz="4000" b="1" dirty="0" smtClean="0"/>
              <a:t>WITH CAR DEKHO DATA</a:t>
            </a:r>
            <a:r>
              <a:rPr lang="en-US" dirty="0"/>
              <a:t/>
            </a:r>
            <a:br>
              <a:rPr lang="en-US"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5" dur="500"/>
                                        <p:tgtEl>
                                          <p:spTgt spid="2">
                                            <p:txEl>
                                              <p:pRg st="0" end="0"/>
                                            </p:txEl>
                                          </p:spTgt>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2">
                                            <p:txEl>
                                              <p:pRg st="1" end="1"/>
                                            </p:txEl>
                                          </p:spTgt>
                                        </p:tgtEl>
                                        <p:attrNameLst>
                                          <p:attrName>style.visibility</p:attrName>
                                        </p:attrNameLst>
                                      </p:cBhvr>
                                      <p:to>
                                        <p:strVal val="visible"/>
                                      </p:to>
                                    </p:set>
                                    <p:animEffect transition="in" filter="randombar(horizontal)">
                                      <p:cBhvr>
                                        <p:cTn id="28" dur="500"/>
                                        <p:tgtEl>
                                          <p:spTgt spid="2">
                                            <p:txEl>
                                              <p:pRg st="1" end="1"/>
                                            </p:txEl>
                                          </p:spTgt>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animEffect transition="in" filter="randombar(horizontal)">
                                      <p:cBhvr>
                                        <p:cTn id="31"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995713"/>
            <a:ext cx="6718240" cy="4669247"/>
          </a:xfrm>
        </p:spPr>
        <p:txBody>
          <a:bodyPr>
            <a:noAutofit/>
          </a:bodyPr>
          <a:lstStyle/>
          <a:p>
            <a:pPr marL="0" indent="0">
              <a:lnSpc>
                <a:spcPct val="130000"/>
              </a:lnSpc>
              <a:buNone/>
            </a:pPr>
            <a:r>
              <a:rPr lang="en-US" sz="2400" dirty="0"/>
              <a:t>The used car market is growing fast, but estimating the correct resale price is very difficult. This is because car prices change constantly based on many factors like the car's age, fuel type, transmission, and total mileage. Without data analysis, people often misprice vehicles, creating a clear need to study historical market data to find fair value.</a:t>
            </a:r>
            <a:endParaRPr lang="en-IN" sz="22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819522"/>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smtClean="0"/>
              <a:t>PROJECT DESCRIPTION</a:t>
            </a:r>
            <a:r>
              <a:rPr lang="en-GB" dirty="0"/>
              <a:t/>
            </a:r>
            <a:br>
              <a:rPr lang="en-GB" dirty="0"/>
            </a:br>
            <a:r>
              <a:rPr lang="en-GB" dirty="0"/>
              <a:t/>
            </a:r>
            <a:br>
              <a:rPr lang="en-GB" dirty="0"/>
            </a:br>
            <a:r>
              <a:rPr lang="en-GB" sz="2700" dirty="0" smtClean="0"/>
              <a:t/>
            </a:r>
            <a:br>
              <a:rPr lang="en-GB" sz="2700" dirty="0" smtClean="0"/>
            </a:br>
            <a:r>
              <a:rPr lang="en-GB" sz="2700" dirty="0"/>
              <a:t/>
            </a:r>
            <a:br>
              <a:rPr lang="en-GB" sz="2700" dirty="0"/>
            </a:br>
            <a:r>
              <a:rPr lang="en-GB" sz="2700" dirty="0" smtClean="0"/>
              <a:t/>
            </a:r>
            <a:br>
              <a:rPr lang="en-GB" sz="2700" dirty="0" smtClean="0"/>
            </a:br>
            <a:r>
              <a:rPr lang="en-GB" sz="2700" dirty="0"/>
              <a:t/>
            </a:r>
            <a:br>
              <a:rPr lang="en-GB" sz="2700" dirty="0"/>
            </a:br>
            <a:r>
              <a:rPr lang="en-GB" sz="2700" dirty="0" smtClean="0"/>
              <a:t/>
            </a:r>
            <a:br>
              <a:rPr lang="en-GB" sz="2700" dirty="0" smtClean="0"/>
            </a:br>
            <a:r>
              <a:rPr lang="en-GB" sz="2700" dirty="0"/>
              <a:t/>
            </a:r>
            <a:br>
              <a:rPr lang="en-GB" sz="2700" dirty="0"/>
            </a:br>
            <a:endParaRPr lang="en-IN" sz="27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5" name="TextBox 14"/>
          <p:cNvSpPr txBox="1"/>
          <p:nvPr/>
        </p:nvSpPr>
        <p:spPr>
          <a:xfrm>
            <a:off x="467359" y="1952168"/>
            <a:ext cx="8872584" cy="4519752"/>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sz="2400" b="1" dirty="0"/>
              <a:t>Project Type:</a:t>
            </a:r>
            <a:r>
              <a:rPr lang="en-US" altLang="en-US" sz="2400" dirty="0"/>
              <a:t> A data analytics case study based on the </a:t>
            </a:r>
            <a:r>
              <a:rPr lang="en-US" altLang="en-US" sz="2400" dirty="0" smtClean="0"/>
              <a:t>Car Dekho </a:t>
            </a:r>
            <a:r>
              <a:rPr lang="en-US" altLang="en-US" sz="2400" dirty="0"/>
              <a:t>dataset to understand used vehicle market trends</a:t>
            </a:r>
            <a:r>
              <a:rPr lang="en-US" altLang="en-US" sz="2400" dirty="0" smtClean="0"/>
              <a:t>.</a:t>
            </a:r>
          </a:p>
          <a:p>
            <a:pPr lvl="0" defTabSz="914400" eaLnBrk="0" fontAlgn="base" hangingPunct="0">
              <a:spcBef>
                <a:spcPct val="0"/>
              </a:spcBef>
              <a:spcAft>
                <a:spcPct val="0"/>
              </a:spcAft>
              <a:buFontTx/>
              <a:buChar char="•"/>
            </a:pPr>
            <a:endParaRPr lang="en-US" altLang="en-US" sz="2400" dirty="0"/>
          </a:p>
          <a:p>
            <a:pPr lvl="0" defTabSz="914400" eaLnBrk="0" fontAlgn="base" hangingPunct="0">
              <a:spcBef>
                <a:spcPct val="0"/>
              </a:spcBef>
              <a:spcAft>
                <a:spcPct val="0"/>
              </a:spcAft>
              <a:buFontTx/>
              <a:buChar char="•"/>
            </a:pPr>
            <a:r>
              <a:rPr lang="en-US" altLang="en-US" sz="2400" b="1" dirty="0"/>
              <a:t>Core Method:</a:t>
            </a:r>
            <a:r>
              <a:rPr lang="en-US" altLang="en-US" sz="2400" dirty="0"/>
              <a:t> </a:t>
            </a:r>
            <a:r>
              <a:rPr lang="en-US" altLang="en-US" sz="2400" dirty="0" smtClean="0"/>
              <a:t>Uses </a:t>
            </a:r>
            <a:r>
              <a:rPr lang="en-US" altLang="en-US" sz="2400" dirty="0"/>
              <a:t>Python to clean data and calculate new metrics like Vehicle Age (updated to 2026) and value drop (</a:t>
            </a:r>
            <a:r>
              <a:rPr lang="en-US" altLang="en-US" sz="2400" dirty="0" smtClean="0"/>
              <a:t>Depreciation).</a:t>
            </a:r>
          </a:p>
          <a:p>
            <a:pPr lvl="0" defTabSz="914400" eaLnBrk="0" fontAlgn="base" hangingPunct="0">
              <a:spcBef>
                <a:spcPct val="0"/>
              </a:spcBef>
              <a:spcAft>
                <a:spcPct val="0"/>
              </a:spcAft>
              <a:buFontTx/>
              <a:buChar char="•"/>
            </a:pPr>
            <a:endParaRPr lang="en-US" altLang="en-US" sz="2400" dirty="0" smtClean="0"/>
          </a:p>
          <a:p>
            <a:pPr lvl="0" defTabSz="914400" eaLnBrk="0" fontAlgn="base" hangingPunct="0">
              <a:spcBef>
                <a:spcPct val="0"/>
              </a:spcBef>
              <a:spcAft>
                <a:spcPct val="0"/>
              </a:spcAft>
              <a:buFontTx/>
              <a:buChar char="•"/>
            </a:pPr>
            <a:r>
              <a:rPr lang="en-US" altLang="en-US" sz="2400" b="1" dirty="0" smtClean="0"/>
              <a:t>Visual </a:t>
            </a:r>
            <a:r>
              <a:rPr lang="en-US" altLang="en-US" sz="2400" b="1" dirty="0"/>
              <a:t>Insights:</a:t>
            </a:r>
            <a:r>
              <a:rPr lang="en-US" altLang="en-US" sz="2400" dirty="0"/>
              <a:t> Uses simple charts and statistical tables to find out which features change a car's resale value</a:t>
            </a:r>
            <a:r>
              <a:rPr lang="en-US" altLang="en-US" sz="2400" dirty="0" smtClean="0"/>
              <a:t>.</a:t>
            </a:r>
          </a:p>
          <a:p>
            <a:pPr lvl="0" defTabSz="914400" eaLnBrk="0" fontAlgn="base" hangingPunct="0">
              <a:spcBef>
                <a:spcPct val="0"/>
              </a:spcBef>
              <a:spcAft>
                <a:spcPct val="0"/>
              </a:spcAft>
              <a:buFontTx/>
              <a:buChar char="•"/>
            </a:pPr>
            <a:endParaRPr lang="en-US" altLang="en-US" sz="2400" dirty="0"/>
          </a:p>
          <a:p>
            <a:pPr lvl="0" defTabSz="914400" eaLnBrk="0" fontAlgn="base" hangingPunct="0">
              <a:spcBef>
                <a:spcPct val="0"/>
              </a:spcBef>
              <a:spcAft>
                <a:spcPct val="0"/>
              </a:spcAft>
              <a:buFontTx/>
              <a:buChar char="•"/>
            </a:pPr>
            <a:r>
              <a:rPr lang="en-US" altLang="en-US" sz="2400" b="1" dirty="0"/>
              <a:t>Main Goal:</a:t>
            </a:r>
            <a:r>
              <a:rPr lang="en-US" altLang="en-US" sz="2400" dirty="0"/>
              <a:t> Turns raw vehicle numbers into easy insights to help buyers and sellers find fair market prices</a:t>
            </a:r>
            <a:endParaRPr lang="en-IN" sz="2400" dirty="0"/>
          </a:p>
        </p:txBody>
      </p:sp>
      <p:sp>
        <p:nvSpPr>
          <p:cNvPr id="16" name="Rectangle 9"/>
          <p:cNvSpPr>
            <a:spLocks noChangeArrowheads="1"/>
          </p:cNvSpPr>
          <p:nvPr/>
        </p:nvSpPr>
        <p:spPr bwMode="auto">
          <a:xfrm>
            <a:off x="152400" y="-505381"/>
            <a:ext cx="97784" cy="131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85660" rIns="0" bIns="2856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4300" dirty="0"/>
              <a:t>WHO ARE THE END USERS?</a:t>
            </a:r>
            <a:endParaRPr lang="en-IN" sz="43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p:cNvSpPr>
            <a:spLocks noGrp="1" noChangeArrowheads="1"/>
          </p:cNvSpPr>
          <p:nvPr>
            <p:ph type="body" sz="quarter" idx="12"/>
          </p:nvPr>
        </p:nvSpPr>
        <p:spPr bwMode="auto">
          <a:xfrm>
            <a:off x="620008" y="1987708"/>
            <a:ext cx="8432552"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Used Car Buyers:</a:t>
            </a:r>
            <a:r>
              <a:rPr kumimoji="0" lang="en-US" altLang="en-US" sz="2400" b="0" i="0" u="none" strike="noStrike" cap="none" normalizeH="0" baseline="0" dirty="0" smtClean="0">
                <a:ln>
                  <a:noFill/>
                </a:ln>
                <a:solidFill>
                  <a:schemeClr val="tx1"/>
                </a:solidFill>
                <a:effectLst/>
              </a:rPr>
              <a:t> People looking to buy a pre-owned vehicle at a fair price.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Individual Car Sellers:</a:t>
            </a:r>
            <a:r>
              <a:rPr kumimoji="0" lang="en-US" altLang="en-US" sz="2400" b="0" i="0" u="none" strike="noStrike" cap="none" normalizeH="0" baseline="0" dirty="0" smtClean="0">
                <a:ln>
                  <a:noFill/>
                </a:ln>
                <a:solidFill>
                  <a:schemeClr val="tx1"/>
                </a:solidFill>
                <a:effectLst/>
              </a:rPr>
              <a:t> Private owners who want to know the accurate resale value of their vehicle before selling.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Used Car Dealers:</a:t>
            </a:r>
            <a:r>
              <a:rPr kumimoji="0" lang="en-US" altLang="en-US" sz="2400" b="0" i="0" u="none" strike="noStrike" cap="none" normalizeH="0" baseline="0" dirty="0" smtClean="0">
                <a:ln>
                  <a:noFill/>
                </a:ln>
                <a:solidFill>
                  <a:schemeClr val="tx1"/>
                </a:solidFill>
                <a:effectLst/>
              </a:rPr>
              <a:t> Car businesses and dealerships that need data insights to price their inventory competitively.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Market Analysts:</a:t>
            </a:r>
            <a:r>
              <a:rPr kumimoji="0" lang="en-US" altLang="en-US" sz="2400" b="0" i="0" u="none" strike="noStrike" cap="none" normalizeH="0" baseline="0" dirty="0" smtClean="0">
                <a:ln>
                  <a:noFill/>
                </a:ln>
                <a:solidFill>
                  <a:schemeClr val="tx1"/>
                </a:solidFill>
                <a:effectLst/>
              </a:rPr>
              <a:t> Researchers tracking how different car brands, fuel types, and transmissions hold their value over time.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fontScale="90000"/>
          </a:bodyPr>
          <a:lstStyle/>
          <a:p>
            <a:r>
              <a:rPr lang="en-US" dirty="0" smtClean="0"/>
              <a:t>TECHNOLOGY USED</a:t>
            </a:r>
            <a:endParaRPr lang="en-US" dirty="0"/>
          </a:p>
        </p:txBody>
      </p:sp>
      <p:sp>
        <p:nvSpPr>
          <p:cNvPr id="3" name="Rectangle 1"/>
          <p:cNvSpPr>
            <a:spLocks noGrp="1" noChangeArrowheads="1"/>
          </p:cNvSpPr>
          <p:nvPr>
            <p:ph type="body" sz="quarter" idx="12"/>
          </p:nvPr>
        </p:nvSpPr>
        <p:spPr bwMode="auto">
          <a:xfrm>
            <a:off x="1778000" y="1535907"/>
            <a:ext cx="9338491"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Programming Language:</a:t>
            </a:r>
            <a:r>
              <a:rPr kumimoji="0" lang="en-US" altLang="en-US" sz="2400" b="0" i="0" u="none" strike="noStrike" cap="none" normalizeH="0" baseline="0" dirty="0" smtClean="0">
                <a:ln>
                  <a:noFill/>
                </a:ln>
                <a:solidFill>
                  <a:schemeClr val="tx1"/>
                </a:solidFill>
                <a:effectLst/>
              </a:rPr>
              <a:t> </a:t>
            </a:r>
            <a:r>
              <a:rPr kumimoji="0" lang="en-US" altLang="en-US" sz="2400" b="1" i="0" u="none" strike="noStrike" cap="none" normalizeH="0" baseline="0" dirty="0" smtClean="0">
                <a:ln>
                  <a:noFill/>
                </a:ln>
                <a:solidFill>
                  <a:schemeClr val="tx1"/>
                </a:solidFill>
                <a:effectLst/>
              </a:rPr>
              <a:t>Python</a:t>
            </a:r>
            <a:r>
              <a:rPr kumimoji="0" lang="en-US" altLang="en-US" sz="2400" b="0" i="0" u="none" strike="noStrike" cap="none" normalizeH="0" baseline="0" dirty="0" smtClean="0">
                <a:ln>
                  <a:noFill/>
                </a:ln>
                <a:solidFill>
                  <a:schemeClr val="tx1"/>
                </a:solidFill>
                <a:effectLst/>
              </a:rPr>
              <a:t> – Used as the core language for all data loading, manipulation, and statistical data processing.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Data Manipulation:</a:t>
            </a:r>
            <a:r>
              <a:rPr kumimoji="0" lang="en-US" altLang="en-US" sz="2400" b="0" i="0" u="none" strike="noStrike" cap="none" normalizeH="0" baseline="0" dirty="0" smtClean="0">
                <a:ln>
                  <a:noFill/>
                </a:ln>
                <a:solidFill>
                  <a:schemeClr val="tx1"/>
                </a:solidFill>
                <a:effectLst/>
              </a:rPr>
              <a:t> </a:t>
            </a:r>
            <a:r>
              <a:rPr kumimoji="0" lang="en-US" altLang="en-US" sz="2400" b="1" i="0" u="none" strike="noStrike" cap="none" normalizeH="0" baseline="0" dirty="0" smtClean="0">
                <a:ln>
                  <a:noFill/>
                </a:ln>
                <a:solidFill>
                  <a:schemeClr val="tx1"/>
                </a:solidFill>
                <a:effectLst/>
              </a:rPr>
              <a:t>Pandas</a:t>
            </a:r>
            <a:r>
              <a:rPr kumimoji="0" lang="en-US" altLang="en-US" sz="2400" b="1" i="0" u="none" strike="noStrike" cap="none" normalizeH="0" dirty="0" smtClean="0">
                <a:ln>
                  <a:noFill/>
                </a:ln>
                <a:solidFill>
                  <a:schemeClr val="tx1"/>
                </a:solidFill>
                <a:effectLst/>
              </a:rPr>
              <a:t> </a:t>
            </a:r>
            <a:r>
              <a:rPr kumimoji="0" lang="en-US" altLang="en-US" sz="2400" b="0" i="0" u="none" strike="noStrike" cap="none" normalizeH="0" baseline="0" dirty="0" smtClean="0">
                <a:ln>
                  <a:noFill/>
                </a:ln>
                <a:solidFill>
                  <a:schemeClr val="tx1"/>
                </a:solidFill>
                <a:effectLst/>
              </a:rPr>
              <a:t>– Used to read the </a:t>
            </a:r>
            <a:r>
              <a:rPr kumimoji="0" lang="en-US" altLang="en-US" sz="2400" b="0" i="0" u="none" strike="noStrike" cap="none" normalizeH="0" baseline="0" dirty="0" err="1" smtClean="0">
                <a:ln>
                  <a:noFill/>
                </a:ln>
                <a:solidFill>
                  <a:schemeClr val="tx1"/>
                </a:solidFill>
                <a:effectLst/>
              </a:rPr>
              <a:t>CarDekho</a:t>
            </a:r>
            <a:r>
              <a:rPr kumimoji="0" lang="en-US" altLang="en-US" sz="2400" b="0" i="0" u="none" strike="noStrike" cap="none" normalizeH="0" baseline="0" dirty="0" smtClean="0">
                <a:ln>
                  <a:noFill/>
                </a:ln>
                <a:solidFill>
                  <a:schemeClr val="tx1"/>
                </a:solidFill>
                <a:effectLst/>
              </a:rPr>
              <a:t> CSV file, handle rows and columns, clean null values, and create new columns (</a:t>
            </a:r>
            <a:r>
              <a:rPr kumimoji="0" lang="en-US" altLang="en-US" sz="2400" b="0" i="0" u="none" strike="noStrike" cap="none" normalizeH="0" baseline="0" dirty="0" err="1" smtClean="0">
                <a:ln>
                  <a:noFill/>
                </a:ln>
                <a:solidFill>
                  <a:schemeClr val="tx1"/>
                </a:solidFill>
                <a:effectLst/>
                <a:cs typeface="Courier New" panose="02070309020205020404" pitchFamily="49" charset="0"/>
              </a:rPr>
              <a:t>Vehicle_Age</a:t>
            </a:r>
            <a:r>
              <a:rPr kumimoji="0" lang="en-US" altLang="en-US" sz="2400" b="0" i="0" u="none" strike="noStrike" cap="none" normalizeH="0" baseline="0" dirty="0" smtClean="0">
                <a:ln>
                  <a:noFill/>
                </a:ln>
                <a:solidFill>
                  <a:schemeClr val="tx1"/>
                </a:solidFill>
                <a:effectLst/>
              </a:rPr>
              <a:t> and </a:t>
            </a:r>
            <a:r>
              <a:rPr kumimoji="0" lang="en-US" altLang="en-US" sz="2400" b="0" i="0" u="none" strike="noStrike" cap="none" normalizeH="0" baseline="0" dirty="0" smtClean="0">
                <a:ln>
                  <a:noFill/>
                </a:ln>
                <a:solidFill>
                  <a:schemeClr val="tx1"/>
                </a:solidFill>
                <a:effectLst/>
                <a:cs typeface="Courier New" panose="02070309020205020404" pitchFamily="49" charset="0"/>
              </a:rPr>
              <a:t>Depreciation</a:t>
            </a:r>
            <a:r>
              <a:rPr kumimoji="0" lang="en-US" altLang="en-US" sz="24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Data Visualization:</a:t>
            </a:r>
            <a:r>
              <a:rPr kumimoji="0" lang="en-US" altLang="en-US" sz="2400" b="0" i="0" u="none" strike="noStrike" cap="none" normalizeH="0" baseline="0" dirty="0" smtClean="0">
                <a:ln>
                  <a:noFill/>
                </a:ln>
                <a:solidFill>
                  <a:schemeClr val="tx1"/>
                </a:solidFill>
                <a:effectLst/>
              </a:rPr>
              <a:t> </a:t>
            </a:r>
            <a:r>
              <a:rPr kumimoji="0" lang="en-US" altLang="en-US" sz="2400" b="1" i="0" u="none" strike="noStrike" cap="none" normalizeH="0" baseline="0" dirty="0" err="1" smtClean="0">
                <a:ln>
                  <a:noFill/>
                </a:ln>
                <a:solidFill>
                  <a:schemeClr val="tx1"/>
                </a:solidFill>
                <a:effectLst/>
              </a:rPr>
              <a:t>Matplotlib</a:t>
            </a:r>
            <a:r>
              <a:rPr kumimoji="0" lang="en-US" altLang="en-US" sz="2400" b="0" i="0" u="none" strike="noStrike" cap="none" normalizeH="0" baseline="0" dirty="0" smtClean="0">
                <a:ln>
                  <a:noFill/>
                </a:ln>
                <a:solidFill>
                  <a:schemeClr val="tx1"/>
                </a:solidFill>
                <a:effectLst/>
              </a:rPr>
              <a:t> &amp; </a:t>
            </a:r>
            <a:r>
              <a:rPr kumimoji="0" lang="en-US" altLang="en-US" sz="2400" b="1" i="0" u="none" strike="noStrike" cap="none" normalizeH="0" baseline="0" dirty="0" err="1" smtClean="0">
                <a:ln>
                  <a:noFill/>
                </a:ln>
                <a:solidFill>
                  <a:schemeClr val="tx1"/>
                </a:solidFill>
                <a:effectLst/>
              </a:rPr>
              <a:t>Seaborn</a:t>
            </a:r>
            <a:r>
              <a:rPr kumimoji="0" lang="en-US" altLang="en-US" sz="2400" b="0" i="0" u="none" strike="noStrike" cap="none" normalizeH="0" baseline="0" dirty="0" smtClean="0">
                <a:ln>
                  <a:noFill/>
                </a:ln>
                <a:solidFill>
                  <a:schemeClr val="tx1"/>
                </a:solidFill>
                <a:effectLst/>
              </a:rPr>
              <a:t> – Used to build simple, high-quality charts like distribution plots, box plots, and the correlation matrix </a:t>
            </a:r>
            <a:r>
              <a:rPr kumimoji="0" lang="en-US" altLang="en-US" sz="2400" b="0" i="0" u="none" strike="noStrike" cap="none" normalizeH="0" baseline="0" dirty="0" err="1" smtClean="0">
                <a:ln>
                  <a:noFill/>
                </a:ln>
                <a:solidFill>
                  <a:schemeClr val="tx1"/>
                </a:solidFill>
                <a:effectLst/>
              </a:rPr>
              <a:t>heatmap</a:t>
            </a:r>
            <a:r>
              <a:rPr kumimoji="0" lang="en-US" altLang="en-US" sz="24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rPr>
              <a:t>Development Environment:</a:t>
            </a:r>
            <a:r>
              <a:rPr kumimoji="0" lang="en-US" altLang="en-US" sz="2400" b="0" i="0" u="none" strike="noStrike" cap="none" normalizeH="0" baseline="0" dirty="0" smtClean="0">
                <a:ln>
                  <a:noFill/>
                </a:ln>
                <a:solidFill>
                  <a:schemeClr val="tx1"/>
                </a:solidFill>
                <a:effectLst/>
              </a:rPr>
              <a:t> </a:t>
            </a:r>
            <a:r>
              <a:rPr kumimoji="0" lang="en-US" altLang="en-US" sz="2400" b="1" i="0" u="none" strike="noStrike" cap="none" normalizeH="0" baseline="0" dirty="0" smtClean="0">
                <a:ln>
                  <a:noFill/>
                </a:ln>
                <a:solidFill>
                  <a:schemeClr val="tx1"/>
                </a:solidFill>
                <a:effectLst/>
              </a:rPr>
              <a:t>Google </a:t>
            </a:r>
            <a:r>
              <a:rPr kumimoji="0" lang="en-US" altLang="en-US" sz="2400" b="1" i="0" u="none" strike="noStrike" cap="none" normalizeH="0" baseline="0" dirty="0" err="1" smtClean="0">
                <a:ln>
                  <a:noFill/>
                </a:ln>
                <a:solidFill>
                  <a:schemeClr val="tx1"/>
                </a:solidFill>
                <a:effectLst/>
              </a:rPr>
              <a:t>Colab</a:t>
            </a:r>
            <a:r>
              <a:rPr kumimoji="0" lang="en-US" altLang="en-US" sz="2400" b="1" i="0" u="none" strike="noStrike" cap="none" normalizeH="0" baseline="0" dirty="0" smtClean="0">
                <a:ln>
                  <a:noFill/>
                </a:ln>
                <a:solidFill>
                  <a:schemeClr val="tx1"/>
                </a:solidFill>
                <a:effectLst/>
              </a:rPr>
              <a:t> </a:t>
            </a:r>
            <a:r>
              <a:rPr kumimoji="0" lang="en-US" altLang="en-US" sz="2400" b="0" i="0" u="none" strike="noStrike" cap="none" normalizeH="0" baseline="0" dirty="0" smtClean="0">
                <a:ln>
                  <a:noFill/>
                </a:ln>
                <a:solidFill>
                  <a:schemeClr val="tx1"/>
                </a:solidFill>
                <a:effectLst/>
              </a:rPr>
              <a:t>– Used as the interactive environment to write and run the Python data analysis code.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smtClean="0">
                <a:solidFill>
                  <a:srgbClr val="0070C0"/>
                </a:solidFill>
                <a:hlinkClick r:id="rId3"/>
              </a:rPr>
              <a:t>Github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75957" y="1366546"/>
            <a:ext cx="5920786" cy="4738135"/>
          </a:xfrm>
        </p:spPr>
        <p:txBody>
          <a:bodyPr>
            <a:noAutofit/>
          </a:bodyPr>
          <a:lstStyle/>
          <a:p>
            <a:pPr marL="0" lvl="0" indent="0" defTabSz="914400" eaLnBrk="0" fontAlgn="base" hangingPunct="0">
              <a:spcBef>
                <a:spcPct val="0"/>
              </a:spcBef>
              <a:spcAft>
                <a:spcPct val="0"/>
              </a:spcAft>
              <a:buClrTx/>
              <a:buSzTx/>
              <a:buFontTx/>
              <a:buChar char="•"/>
            </a:pPr>
            <a:r>
              <a:rPr lang="en-US" altLang="en-US" sz="2400" b="1" dirty="0">
                <a:solidFill>
                  <a:schemeClr val="tx1"/>
                </a:solidFill>
              </a:rPr>
              <a:t>Manufacturing Span:</a:t>
            </a:r>
            <a:r>
              <a:rPr lang="en-US" altLang="en-US" sz="2400" dirty="0">
                <a:solidFill>
                  <a:schemeClr val="tx1"/>
                </a:solidFill>
              </a:rPr>
              <a:t> The dataset covers vehicles built from </a:t>
            </a:r>
            <a:r>
              <a:rPr lang="en-US" altLang="en-US" sz="2400" b="1" dirty="0">
                <a:solidFill>
                  <a:schemeClr val="tx1"/>
                </a:solidFill>
              </a:rPr>
              <a:t>2003</a:t>
            </a:r>
            <a:r>
              <a:rPr lang="en-US" altLang="en-US" sz="2400" dirty="0">
                <a:solidFill>
                  <a:schemeClr val="tx1"/>
                </a:solidFill>
              </a:rPr>
              <a:t> (</a:t>
            </a:r>
            <a:r>
              <a:rPr lang="en-US" altLang="en-US" sz="2400" dirty="0" err="1">
                <a:solidFill>
                  <a:schemeClr val="tx1"/>
                </a:solidFill>
              </a:rPr>
              <a:t>Maruti</a:t>
            </a:r>
            <a:r>
              <a:rPr lang="en-US" altLang="en-US" sz="2400" dirty="0">
                <a:solidFill>
                  <a:schemeClr val="tx1"/>
                </a:solidFill>
              </a:rPr>
              <a:t> 800) to </a:t>
            </a:r>
            <a:r>
              <a:rPr lang="en-US" altLang="en-US" sz="2400" b="1" dirty="0">
                <a:solidFill>
                  <a:schemeClr val="tx1"/>
                </a:solidFill>
              </a:rPr>
              <a:t>2018</a:t>
            </a:r>
            <a:r>
              <a:rPr lang="en-US" altLang="en-US" sz="2400" dirty="0">
                <a:solidFill>
                  <a:schemeClr val="tx1"/>
                </a:solidFill>
              </a:rPr>
              <a:t> (</a:t>
            </a:r>
            <a:r>
              <a:rPr lang="en-US" altLang="en-US" sz="2400" dirty="0" err="1">
                <a:solidFill>
                  <a:schemeClr val="tx1"/>
                </a:solidFill>
              </a:rPr>
              <a:t>Vitara</a:t>
            </a:r>
            <a:r>
              <a:rPr lang="en-US" altLang="en-US" sz="2400" dirty="0">
                <a:solidFill>
                  <a:schemeClr val="tx1"/>
                </a:solidFill>
              </a:rPr>
              <a:t> </a:t>
            </a:r>
            <a:r>
              <a:rPr lang="en-US" altLang="en-US" sz="2400" dirty="0" err="1">
                <a:solidFill>
                  <a:schemeClr val="tx1"/>
                </a:solidFill>
              </a:rPr>
              <a:t>Brezza</a:t>
            </a:r>
            <a:r>
              <a:rPr lang="en-US" altLang="en-US" sz="2400" dirty="0">
                <a:solidFill>
                  <a:schemeClr val="tx1"/>
                </a:solidFill>
              </a:rPr>
              <a:t>).</a:t>
            </a:r>
          </a:p>
          <a:p>
            <a:pPr marL="0" lvl="0" indent="0" defTabSz="914400" eaLnBrk="0" fontAlgn="base" hangingPunct="0">
              <a:spcBef>
                <a:spcPct val="0"/>
              </a:spcBef>
              <a:spcAft>
                <a:spcPct val="0"/>
              </a:spcAft>
              <a:buClrTx/>
              <a:buSzTx/>
              <a:buFontTx/>
              <a:buChar char="•"/>
            </a:pPr>
            <a:endParaRPr lang="en-US" altLang="en-US" sz="2400" dirty="0">
              <a:solidFill>
                <a:schemeClr val="tx1"/>
              </a:solidFill>
            </a:endParaRPr>
          </a:p>
          <a:p>
            <a:pPr marL="0" lvl="0" indent="0" defTabSz="914400" eaLnBrk="0" fontAlgn="base" hangingPunct="0">
              <a:spcBef>
                <a:spcPct val="0"/>
              </a:spcBef>
              <a:spcAft>
                <a:spcPct val="0"/>
              </a:spcAft>
              <a:buClrTx/>
              <a:buSzTx/>
              <a:buFontTx/>
              <a:buChar char="•"/>
            </a:pPr>
            <a:r>
              <a:rPr lang="en-US" altLang="en-US" sz="2400" b="1" dirty="0">
                <a:solidFill>
                  <a:schemeClr val="tx1"/>
                </a:solidFill>
              </a:rPr>
              <a:t>Price Range:</a:t>
            </a:r>
            <a:r>
              <a:rPr lang="en-US" altLang="en-US" sz="2400" dirty="0">
                <a:solidFill>
                  <a:schemeClr val="tx1"/>
                </a:solidFill>
              </a:rPr>
              <a:t> Used car prices range from a minimum of </a:t>
            </a:r>
            <a:r>
              <a:rPr lang="en-US" altLang="en-US" sz="2400" b="1" dirty="0">
                <a:solidFill>
                  <a:schemeClr val="tx1"/>
                </a:solidFill>
              </a:rPr>
              <a:t>0.1 Lakh INR (10,000 INR)</a:t>
            </a:r>
            <a:r>
              <a:rPr lang="en-US" altLang="en-US" sz="2400" dirty="0">
                <a:solidFill>
                  <a:schemeClr val="tx1"/>
                </a:solidFill>
              </a:rPr>
              <a:t> to a maximum of </a:t>
            </a:r>
            <a:r>
              <a:rPr lang="en-US" altLang="en-US" sz="2400" b="1" dirty="0">
                <a:solidFill>
                  <a:schemeClr val="tx1"/>
                </a:solidFill>
              </a:rPr>
              <a:t>35.0 Lakh INR</a:t>
            </a:r>
            <a:r>
              <a:rPr lang="en-US" altLang="en-US" sz="2400" dirty="0">
                <a:solidFill>
                  <a:schemeClr val="tx1"/>
                </a:solidFill>
              </a:rPr>
              <a:t>.</a:t>
            </a:r>
          </a:p>
          <a:p>
            <a:pPr marL="0" lvl="0" indent="0" defTabSz="914400" eaLnBrk="0" fontAlgn="base" hangingPunct="0">
              <a:spcBef>
                <a:spcPct val="0"/>
              </a:spcBef>
              <a:spcAft>
                <a:spcPct val="0"/>
              </a:spcAft>
              <a:buClrTx/>
              <a:buSzTx/>
              <a:buFontTx/>
              <a:buChar char="•"/>
            </a:pPr>
            <a:endParaRPr lang="en-US" altLang="en-US" sz="2400" dirty="0">
              <a:solidFill>
                <a:schemeClr val="tx1"/>
              </a:solidFill>
            </a:endParaRPr>
          </a:p>
          <a:p>
            <a:pPr marL="0" lvl="0" indent="0" defTabSz="914400" eaLnBrk="0" fontAlgn="base" hangingPunct="0">
              <a:spcBef>
                <a:spcPct val="0"/>
              </a:spcBef>
              <a:spcAft>
                <a:spcPct val="0"/>
              </a:spcAft>
              <a:buClrTx/>
              <a:buSzTx/>
              <a:buFontTx/>
              <a:buChar char="•"/>
            </a:pPr>
            <a:r>
              <a:rPr lang="en-US" altLang="en-US" sz="2400" b="1" dirty="0">
                <a:solidFill>
                  <a:schemeClr val="tx1"/>
                </a:solidFill>
              </a:rPr>
              <a:t>Market Saliency:</a:t>
            </a:r>
            <a:r>
              <a:rPr lang="en-US" altLang="en-US" sz="2400" dirty="0">
                <a:solidFill>
                  <a:schemeClr val="tx1"/>
                </a:solidFill>
              </a:rPr>
              <a:t> The most sold car model is the </a:t>
            </a:r>
            <a:r>
              <a:rPr lang="en-US" altLang="en-US" sz="2400" b="1" dirty="0">
                <a:solidFill>
                  <a:schemeClr val="tx1"/>
                </a:solidFill>
              </a:rPr>
              <a:t>Honda City</a:t>
            </a:r>
            <a:r>
              <a:rPr lang="en-US" altLang="en-US" sz="2400" dirty="0">
                <a:solidFill>
                  <a:schemeClr val="tx1"/>
                </a:solidFill>
              </a:rPr>
              <a:t> (appears 26 times), while the least sold is the </a:t>
            </a:r>
            <a:r>
              <a:rPr lang="en-US" altLang="en-US" sz="2400" b="1" dirty="0">
                <a:solidFill>
                  <a:schemeClr val="tx1"/>
                </a:solidFill>
              </a:rPr>
              <a:t>Hyosung GT250R</a:t>
            </a:r>
            <a:r>
              <a:rPr lang="en-US" altLang="en-US" sz="2400" dirty="0">
                <a:solidFill>
                  <a:schemeClr val="tx1"/>
                </a:solidFill>
              </a:rPr>
              <a:t> bike. </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Effect transition="in" filter="fade">
                                      <p:cBhvr>
                                        <p:cTn id="42" dur="1000"/>
                                        <p:tgtEl>
                                          <p:spTgt spid="10">
                                            <p:txEl>
                                              <p:pRg st="4" end="4"/>
                                            </p:txEl>
                                          </p:spTgt>
                                        </p:tgtEl>
                                      </p:cBhvr>
                                    </p:animEffect>
                                    <p:anim calcmode="lin" valueType="num">
                                      <p:cBhvr>
                                        <p:cTn id="43"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ppt_x"/>
                                          </p:val>
                                        </p:tav>
                                        <p:tav tm="100000">
                                          <p:val>
                                            <p:strVal val="#ppt_x"/>
                                          </p:val>
                                        </p:tav>
                                      </p:tavLst>
                                    </p:anim>
                                    <p:anim calcmode="lin" valueType="num">
                                      <p:cBhvr additive="base">
                                        <p:cTn id="5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9B4A24F-1958-1EAC-4E97-0F4035F895C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smtClean="0">
                <a:solidFill>
                  <a:srgbClr val="0070C0"/>
                </a:solidFill>
                <a:hlinkClick r:id="rId3"/>
              </a:rPr>
              <a:t>Github Link</a:t>
            </a:r>
            <a:endParaRPr lang="en-IN" b="0" u="sng" dirty="0">
              <a:solidFill>
                <a:srgbClr val="0070C0"/>
              </a:solidFill>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957" y="1499233"/>
            <a:ext cx="4284479" cy="4187594"/>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98519" y="3671047"/>
            <a:ext cx="4347411" cy="2800873"/>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02156" y="370589"/>
            <a:ext cx="4343774" cy="284517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9B4A24F-1958-1EAC-4E97-0F4035F895C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smtClean="0">
                <a:solidFill>
                  <a:srgbClr val="0070C0"/>
                </a:solidFill>
                <a:hlinkClick r:id="rId3"/>
              </a:rPr>
              <a:t>Github Link</a:t>
            </a:r>
            <a:endParaRPr lang="en-IN" b="0" u="sng" dirty="0">
              <a:solidFill>
                <a:srgbClr val="0070C0"/>
              </a:solidFill>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129" y="2015235"/>
            <a:ext cx="11930776" cy="3265966"/>
          </a:xfrm>
          <a:prstGeom prst="rect">
            <a:avLst/>
          </a:prstGeom>
        </p:spPr>
      </p:pic>
    </p:spTree>
    <p:extLst>
      <p:ext uri="{BB962C8B-B14F-4D97-AF65-F5344CB8AC3E}">
        <p14:creationId xmlns:p14="http://schemas.microsoft.com/office/powerpoint/2010/main" val="2112707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9B4A24F-1958-1EAC-4E97-0F4035F895C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smtClean="0">
                <a:solidFill>
                  <a:srgbClr val="0070C0"/>
                </a:solidFill>
                <a:hlinkClick r:id="rId3"/>
              </a:rPr>
              <a:t>Github Link</a:t>
            </a:r>
            <a:endParaRPr lang="en-IN" b="0" u="sng" dirty="0">
              <a:solidFill>
                <a:srgbClr val="0070C0"/>
              </a:solidFill>
            </a:endParaRPr>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377" y="2015234"/>
            <a:ext cx="11974193" cy="3277851"/>
          </a:xfrm>
          <a:prstGeom prst="rect">
            <a:avLst/>
          </a:prstGeom>
        </p:spPr>
      </p:pic>
    </p:spTree>
    <p:extLst>
      <p:ext uri="{BB962C8B-B14F-4D97-AF65-F5344CB8AC3E}">
        <p14:creationId xmlns:p14="http://schemas.microsoft.com/office/powerpoint/2010/main" val="427334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78337" y="1220695"/>
            <a:ext cx="8782873" cy="3421230"/>
          </a:xfrm>
          <a:prstGeom prst="rect">
            <a:avLst/>
          </a:prstGeom>
        </p:spPr>
        <p:txBody>
          <a:bodyPr anchor="ctr">
            <a:noAutofit/>
          </a:bodyPr>
          <a:lstStyle/>
          <a:p>
            <a:pPr algn="ctr"/>
            <a:r>
              <a:rPr lang="en-US" sz="9600" b="1" dirty="0" smtClean="0">
                <a:solidFill>
                  <a:schemeClr val="tx1"/>
                </a:solidFill>
              </a:rPr>
              <a:t>THANK YOU</a:t>
            </a:r>
            <a:endParaRPr lang="en-US" sz="9600" b="1" dirty="0">
              <a:solidFill>
                <a:schemeClr val="tx1"/>
              </a:solidFill>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71af3243-3dd4-4a8d-8c0d-dd76da1f02a5"/>
    <ds:schemaRef ds:uri="http://www.w3.org/XML/1998/namespace"/>
    <ds:schemaRef ds:uri="http://purl.org/dc/dcmitype/"/>
    <ds:schemaRef ds:uri="http://schemas.microsoft.com/office/infopath/2007/PartnerControls"/>
    <ds:schemaRef ds:uri="http://schemas.microsoft.com/office/2006/metadata/properties"/>
    <ds:schemaRef ds:uri="http://purl.org/dc/elements/1.1/"/>
    <ds:schemaRef ds:uri="http://purl.org/dc/terms/"/>
    <ds:schemaRef ds:uri="http://schemas.microsoft.com/office/2006/documentManagement/types"/>
    <ds:schemaRef ds:uri="http://schemas.openxmlformats.org/package/2006/metadata/core-properties"/>
    <ds:schemaRef ds:uri="16c05727-aa75-4e4a-9b5f-8a80a1165891"/>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717</TotalTime>
  <Words>452</Words>
  <Application>Microsoft Office PowerPoint</Application>
  <PresentationFormat>Widescreen</PresentationFormat>
  <Paragraphs>49</Paragraphs>
  <Slides>10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Courier New</vt:lpstr>
      <vt:lpstr>Google Sans</vt:lpstr>
      <vt:lpstr>Trebuchet MS</vt:lpstr>
      <vt:lpstr>Wingdings</vt:lpstr>
      <vt:lpstr>Wingdings 3</vt:lpstr>
      <vt:lpstr>Facet</vt:lpstr>
      <vt:lpstr>PROJECT TITLE –   CAR MARKET TRENDS ANALYSIS WITH CAR DEKHO DATA </vt:lpstr>
      <vt:lpstr>PROBLEM  STATEMENT</vt:lpstr>
      <vt:lpstr>PROJECT DESCRIPTION        </vt:lpstr>
      <vt:lpstr>WHO ARE THE END USERS?</vt:lpstr>
      <vt:lpstr>TECHNOLOGY USED</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Dell</cp:lastModifiedBy>
  <cp:revision>98</cp:revision>
  <dcterms:created xsi:type="dcterms:W3CDTF">2021-07-11T13:13:15Z</dcterms:created>
  <dcterms:modified xsi:type="dcterms:W3CDTF">2026-09-19T09:07:46Z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